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60EA-913B-F87C-8346-7873AB9C6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B9E4A-99AD-22B3-24B1-EB68668EC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FD3E6-F670-756C-F1CD-C1936EF7E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986E4-4DF0-6D5E-4AC7-AEBCC7DA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65B7F-FEF8-7582-ECF0-A66D090C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0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C27F-96A5-F959-744E-9A85E72E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0A157-B18C-7D95-A61C-9D2F63F87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58279-4C02-3EDC-8E75-71C14F561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65BD5-52CC-4122-1069-84AAAB45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A1EFB-0015-A179-39E1-E7A40D840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3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69F8-8535-7A8B-8162-F9CE31277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48E7AE-8ADB-E126-2222-61511CD67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C7FEF-0557-3C34-81BC-57DB595D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BCF2F-FD45-5BA8-937C-0B159745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A29AA-ABD7-31B8-CF55-561C2CC6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60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316D-1FB5-290E-4547-F5CA6EB6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9EAB2-F04B-5596-DB84-08EC9658C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C0C93-48C2-037A-365E-76C13F341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9C49F-BDEB-6C34-8E7A-05A8B049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FA170-A976-9B5E-BA98-17292319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F9361-E4FE-E6F1-AA78-48238E60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92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D922-D43F-585B-C5E8-49A93BE17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6EBA1-A54C-34F7-A4D7-4EB3A54CF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20F8D-C979-529B-6A97-35F31F048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9FA861-AC95-4A74-660F-AA127AEC7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2D62BD-B0F2-B1F6-6AD6-2DA3CBC44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F3407-4A77-27B7-A2C8-102A3D6D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435A7-49FF-3F01-0EED-DFE43F22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F670-A855-20EF-9669-20FF6019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1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C3C9F-2EBD-7E27-D0EC-299D006C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71564-E249-6433-16EC-5C9C73A2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92801E-4F4C-AC92-F136-9682C1D3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2B2BE-B9B9-27D0-EAE5-4D5A5726D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1803E6-0443-ECE2-53EC-17434556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025FD-326D-9C5E-1F92-C79F7AD1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C7A5C-6AB5-7AFB-1B95-E2F2CC277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5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6D54-208D-BF87-9450-EE076014C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DD038-7C4C-076C-3387-86E76D2D7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B7F63-87DF-55BC-BE18-2F2B34062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ECA70-26D0-5D16-03FF-78C396D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3A76C-2826-A36D-020D-3FECA8D1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7BB22-771B-192B-79B8-82CF512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1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CD0C0-E432-6D87-0D80-367055329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95B222-8016-807C-550C-65EBC20CB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D31C9-BE8A-0503-CF58-5D4B5A5A0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02F6F-12CB-E4C7-587C-AFFE4FB3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6523-CE3F-7C0D-05EB-543DB2CE9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64516-464F-A119-06C6-7895ADE63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1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6C62-1C5E-054D-BC31-71EAB141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CD38A-D4FE-08E8-E3D1-CE53C3D92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F4E41-1D5E-3DA2-B94D-7A4FA2DB5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402F-A67C-BBE6-421B-7EA55DDA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3617C-168B-6AD0-A9F5-975912F27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9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262F77-09F9-184B-DEEB-99C4B4FB0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7C18BD-E4B2-E188-CA86-A6E6C5B1B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B881A-F1DB-EBBC-75B2-BF3CF9B36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EBAF5-CB74-DA7D-80E9-B179E0170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F162-65E3-019F-B506-E141B016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23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1D458-0A33-CC5D-0E1B-DDC87E865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1BD3F-8628-F2D5-F2F1-78832C44C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B9906-86E8-8D50-0136-0E19A5CF2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2E6D1-0D33-4483-AA36-7FF51E7BD241}" type="datetimeFigureOut">
              <a:rPr lang="en-US" smtClean="0"/>
              <a:t>13-Aug-26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A70AD-847F-3939-4E99-B24C65BCB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551CA-43F9-8AA2-2D24-598F3D4B6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5AFA0-8A1F-467B-A1ED-ED85F7A3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46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E664B-1BE5-046F-DA02-B32CF096B607}"/>
              </a:ext>
            </a:extLst>
          </p:cNvPr>
          <p:cNvSpPr txBox="1"/>
          <p:nvPr/>
        </p:nvSpPr>
        <p:spPr>
          <a:xfrm>
            <a:off x="9779000" y="1498600"/>
            <a:ext cx="698500" cy="86177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000" b="1">
                <a:solidFill>
                  <a:srgbClr val="FFFFFF"/>
                </a:solidFill>
                <a:latin typeface="Aptos" panose="020B0004020202020204" pitchFamily="34" charset="0"/>
              </a:rPr>
              <a:t>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B8A14-CB25-D1FD-8242-7E3CCD943207}"/>
              </a:ext>
            </a:extLst>
          </p:cNvPr>
          <p:cNvSpPr txBox="1"/>
          <p:nvPr/>
        </p:nvSpPr>
        <p:spPr>
          <a:xfrm>
            <a:off x="812800" y="1841500"/>
            <a:ext cx="7239000" cy="80021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600" b="1">
                <a:solidFill>
                  <a:srgbClr val="FFFFFF"/>
                </a:solidFill>
                <a:latin typeface="Aptos" panose="020B0004020202020204" pitchFamily="34" charset="0"/>
              </a:rPr>
              <a:t>NutriCoach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F6090-EE90-5CD0-66BC-284F3D9843B5}"/>
              </a:ext>
            </a:extLst>
          </p:cNvPr>
          <p:cNvSpPr txBox="1"/>
          <p:nvPr/>
        </p:nvSpPr>
        <p:spPr>
          <a:xfrm>
            <a:off x="838200" y="2857500"/>
            <a:ext cx="7112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>
                <a:solidFill>
                  <a:srgbClr val="F7E7D7"/>
                </a:solidFill>
                <a:latin typeface="Aptos" panose="020B0004020202020204" pitchFamily="34" charset="0"/>
              </a:rPr>
              <a:t>How we built an AI-assisted nutrition coaching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FE613F-D04C-BB6E-041C-89FE23C197F0}"/>
              </a:ext>
            </a:extLst>
          </p:cNvPr>
          <p:cNvSpPr txBox="1"/>
          <p:nvPr/>
        </p:nvSpPr>
        <p:spPr>
          <a:xfrm>
            <a:off x="863600" y="4064000"/>
            <a:ext cx="711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F2B976"/>
                </a:solidFill>
                <a:latin typeface="Aptos" panose="020B0004020202020204" pitchFamily="34" charset="0"/>
              </a:rPr>
              <a:t>Profile-aware plans - Real-world food logging - Local-first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D6C26B-0F21-0A65-AF53-D452C2D6F13F}"/>
              </a:ext>
            </a:extLst>
          </p:cNvPr>
          <p:cNvSpPr txBox="1"/>
          <p:nvPr/>
        </p:nvSpPr>
        <p:spPr>
          <a:xfrm>
            <a:off x="863600" y="5270500"/>
            <a:ext cx="660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0BCA9"/>
                </a:solidFill>
                <a:latin typeface="Aptos" panose="020B0004020202020204" pitchFamily="34" charset="0"/>
              </a:rPr>
              <a:t>A practical MVP built around useful feedback, resilient AI integration, and privacy-aware local storage.</a:t>
            </a:r>
          </a:p>
        </p:txBody>
      </p:sp>
    </p:spTree>
    <p:extLst>
      <p:ext uri="{BB962C8B-B14F-4D97-AF65-F5344CB8AC3E}">
        <p14:creationId xmlns:p14="http://schemas.microsoft.com/office/powerpoint/2010/main" val="46649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8B3FD5-8152-4EE4-8D0F-7DE0217E4102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2C097-769C-F181-7569-3582C9D2764E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71629-519B-EBCB-4BB8-1E8AF5FC8AD3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The app connects planning, behavior, and feedback in one lightweight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B9D94-9CDA-45C7-97A6-B837B89BB0F3}"/>
              </a:ext>
            </a:extLst>
          </p:cNvPr>
          <p:cNvSpPr txBox="1"/>
          <p:nvPr/>
        </p:nvSpPr>
        <p:spPr>
          <a:xfrm>
            <a:off x="9652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WHAT IT DOES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758DF-D9AB-C235-22D1-BDA6E2617888}"/>
              </a:ext>
            </a:extLst>
          </p:cNvPr>
          <p:cNvSpPr txBox="1"/>
          <p:nvPr/>
        </p:nvSpPr>
        <p:spPr>
          <a:xfrm>
            <a:off x="965200" y="2832100"/>
            <a:ext cx="28702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Builds four-meal daily plans from a personal profile.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Tracks planned versus actual food.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Calculates nutrition summaries across time periods.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4849F-44A4-226C-88E4-B89ACB99F54F}"/>
              </a:ext>
            </a:extLst>
          </p:cNvPr>
          <p:cNvSpPr txBox="1"/>
          <p:nvPr/>
        </p:nvSpPr>
        <p:spPr>
          <a:xfrm>
            <a:off x="46609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98AAD-CF4C-D0CD-A0D1-5EF6AE1709CD}"/>
              </a:ext>
            </a:extLst>
          </p:cNvPr>
          <p:cNvSpPr txBox="1"/>
          <p:nvPr/>
        </p:nvSpPr>
        <p:spPr>
          <a:xfrm>
            <a:off x="4660900" y="2832100"/>
            <a:ext cx="28702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Flask web app with SQLite storage.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Gemini returns structured nutrition data.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Google Search helps identify branded products.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C1EF7-EEA1-6595-A24E-050D9AA3BA3C}"/>
              </a:ext>
            </a:extLst>
          </p:cNvPr>
          <p:cNvSpPr txBox="1"/>
          <p:nvPr/>
        </p:nvSpPr>
        <p:spPr>
          <a:xfrm>
            <a:off x="83566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WHAT WE LEARNED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FF2666-59F7-A231-36A2-A69C59F5533C}"/>
              </a:ext>
            </a:extLst>
          </p:cNvPr>
          <p:cNvSpPr txBox="1"/>
          <p:nvPr/>
        </p:nvSpPr>
        <p:spPr>
          <a:xfrm>
            <a:off x="8356600" y="2832100"/>
            <a:ext cx="28702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AI integrations need validation and fallbacks.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State must be cleared when profiles change.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Local data handling must be explicit.</a:t>
            </a:r>
          </a:p>
        </p:txBody>
      </p:sp>
    </p:spTree>
    <p:extLst>
      <p:ext uri="{BB962C8B-B14F-4D97-AF65-F5344CB8AC3E}">
        <p14:creationId xmlns:p14="http://schemas.microsoft.com/office/powerpoint/2010/main" val="190029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73884C-695F-875C-391A-1F3695F40817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F5F31-4231-1402-CD0E-66B7972533F0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What the app is about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8C794C-F20C-8EBE-0F5C-B0F5C4401DFE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A personal nutrition coach designed around the user real day.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3ADA4-EC12-492A-58F2-774710A4E423}"/>
              </a:ext>
            </a:extLst>
          </p:cNvPr>
          <p:cNvSpPr txBox="1"/>
          <p:nvPr/>
        </p:nvSpPr>
        <p:spPr>
          <a:xfrm>
            <a:off x="965200" y="23241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USER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C842B-2306-A1B1-2611-50C4AC7768A5}"/>
              </a:ext>
            </a:extLst>
          </p:cNvPr>
          <p:cNvSpPr txBox="1"/>
          <p:nvPr/>
        </p:nvSpPr>
        <p:spPr>
          <a:xfrm>
            <a:off x="965200" y="28321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Age, sex, height, weight, activity, goal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Diet preference, allergies, dislikes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Recent weight progress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What the user actually 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E0B86-4308-F2D1-C95F-088C48C505E1}"/>
              </a:ext>
            </a:extLst>
          </p:cNvPr>
          <p:cNvSpPr txBox="1"/>
          <p:nvPr/>
        </p:nvSpPr>
        <p:spPr>
          <a:xfrm>
            <a:off x="6629400" y="23241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USER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54915-BCAA-EA1F-E118-55B8B13AC344}"/>
              </a:ext>
            </a:extLst>
          </p:cNvPr>
          <p:cNvSpPr txBox="1"/>
          <p:nvPr/>
        </p:nvSpPr>
        <p:spPr>
          <a:xfrm>
            <a:off x="6629400" y="28321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Breakfast, lunch, snack, and dinner plan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Calories, macros, and micronutrients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Daily, weekly, and monthly summaries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Coach notes and adjustment reasoning</a:t>
            </a:r>
          </a:p>
        </p:txBody>
      </p:sp>
    </p:spTree>
    <p:extLst>
      <p:ext uri="{BB962C8B-B14F-4D97-AF65-F5344CB8AC3E}">
        <p14:creationId xmlns:p14="http://schemas.microsoft.com/office/powerpoint/2010/main" val="282718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0A493D-767D-F902-1CBE-42314994A7A1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3DB66-14B3-F7B5-41D3-B28494CDFAB7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How the pieces fit together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3873DE-9BC6-04F9-1CD6-F76663FB2D62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A simple architecture keeps the MVP understandable and easy to run locally.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D50F9-91D3-4D38-52B5-0259970D51CA}"/>
              </a:ext>
            </a:extLst>
          </p:cNvPr>
          <p:cNvSpPr txBox="1"/>
          <p:nvPr/>
        </p:nvSpPr>
        <p:spPr>
          <a:xfrm>
            <a:off x="965200" y="2324100"/>
            <a:ext cx="2616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BROWSER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B9A4C-7B64-5E81-A120-0616A0D3141E}"/>
              </a:ext>
            </a:extLst>
          </p:cNvPr>
          <p:cNvSpPr txBox="1"/>
          <p:nvPr/>
        </p:nvSpPr>
        <p:spPr>
          <a:xfrm>
            <a:off x="965200" y="2832100"/>
            <a:ext cx="2616200" cy="73866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Jinja-rendered pages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Forms and small JS helpers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Blue responsive UI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DE881-16A2-10E9-A854-A429B65852D0}"/>
              </a:ext>
            </a:extLst>
          </p:cNvPr>
          <p:cNvSpPr txBox="1"/>
          <p:nvPr/>
        </p:nvSpPr>
        <p:spPr>
          <a:xfrm>
            <a:off x="4787900" y="2324100"/>
            <a:ext cx="2616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FLASK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22FF2-AD99-BEE1-E4F1-21E1F597EC38}"/>
              </a:ext>
            </a:extLst>
          </p:cNvPr>
          <p:cNvSpPr txBox="1"/>
          <p:nvPr/>
        </p:nvSpPr>
        <p:spPr>
          <a:xfrm>
            <a:off x="4787900" y="2832100"/>
            <a:ext cx="2616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Routes and validation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Target calculations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Prompt construction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Fallback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08607-FC7E-F506-DDCD-7AA247BE5AA6}"/>
              </a:ext>
            </a:extLst>
          </p:cNvPr>
          <p:cNvSpPr txBox="1"/>
          <p:nvPr/>
        </p:nvSpPr>
        <p:spPr>
          <a:xfrm>
            <a:off x="8610600" y="2324100"/>
            <a:ext cx="2616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SERVICES AND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32A88-CA94-E1BD-A264-943B98ED4B8E}"/>
              </a:ext>
            </a:extLst>
          </p:cNvPr>
          <p:cNvSpPr txBox="1"/>
          <p:nvPr/>
        </p:nvSpPr>
        <p:spPr>
          <a:xfrm>
            <a:off x="8610600" y="2832100"/>
            <a:ext cx="2616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Gemini REST API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Google Search grounding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SQLite nutrition.db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Local env secrets</a:t>
            </a:r>
          </a:p>
        </p:txBody>
      </p:sp>
    </p:spTree>
    <p:extLst>
      <p:ext uri="{BB962C8B-B14F-4D97-AF65-F5344CB8AC3E}">
        <p14:creationId xmlns:p14="http://schemas.microsoft.com/office/powerpoint/2010/main" val="351546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E7B90-750A-0D8A-E825-13FABC198DB5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BUILD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D8FAF-0E9A-A077-E903-BD0B6765F935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Technology 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2A0F7-0DE5-F6EB-6F3C-AC29FD160354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Pragmatic technologies chosen for a small local-first application.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0D3F1-23B8-D6FC-732B-BBF84E86C3C3}"/>
              </a:ext>
            </a:extLst>
          </p:cNvPr>
          <p:cNvSpPr txBox="1"/>
          <p:nvPr/>
        </p:nvSpPr>
        <p:spPr>
          <a:xfrm>
            <a:off x="9652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B48DD5-8759-F68B-2492-1FF08D485000}"/>
              </a:ext>
            </a:extLst>
          </p:cNvPr>
          <p:cNvSpPr txBox="1"/>
          <p:nvPr/>
        </p:nvSpPr>
        <p:spPr>
          <a:xfrm>
            <a:off x="965200" y="2832100"/>
            <a:ext cx="2870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Python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Flask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SQLite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Server-rendered Jinja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44F65B-57DA-C346-B72F-7FDD52765022}"/>
              </a:ext>
            </a:extLst>
          </p:cNvPr>
          <p:cNvSpPr txBox="1"/>
          <p:nvPr/>
        </p:nvSpPr>
        <p:spPr>
          <a:xfrm>
            <a:off x="46609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AI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32AB6C-8EB2-E705-F26A-D19F833F0C3F}"/>
              </a:ext>
            </a:extLst>
          </p:cNvPr>
          <p:cNvSpPr txBox="1"/>
          <p:nvPr/>
        </p:nvSpPr>
        <p:spPr>
          <a:xfrm>
            <a:off x="4660900" y="2832100"/>
            <a:ext cx="2870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Google Gemini REST API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JSON Schema output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Google Search tool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Configurable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1E581-39D7-7A0F-71C6-2CFDCABD24A3}"/>
              </a:ext>
            </a:extLst>
          </p:cNvPr>
          <p:cNvSpPr txBox="1"/>
          <p:nvPr/>
        </p:nvSpPr>
        <p:spPr>
          <a:xfrm>
            <a:off x="8356600" y="2324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FRONTEND AND OPS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44F88-846D-76F7-E165-DE04C0A8F07F}"/>
              </a:ext>
            </a:extLst>
          </p:cNvPr>
          <p:cNvSpPr txBox="1"/>
          <p:nvPr/>
        </p:nvSpPr>
        <p:spPr>
          <a:xfrm>
            <a:off x="8356600" y="2832100"/>
            <a:ext cx="2870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HTML, CSS, JavaScript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Local env loading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Git-aware secret handling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SQLite local persistence</a:t>
            </a:r>
          </a:p>
        </p:txBody>
      </p:sp>
    </p:spTree>
    <p:extLst>
      <p:ext uri="{BB962C8B-B14F-4D97-AF65-F5344CB8AC3E}">
        <p14:creationId xmlns:p14="http://schemas.microsoft.com/office/powerpoint/2010/main" val="11966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31176-B3B1-FA73-3F0A-DA5D4F0D6621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AI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58471-7A87-C86A-6D48-D302FE498035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How AI is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529C5-A9A6-07AA-BBC8-0D1BE81D439E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Two narrow workflows, both designed to return structured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AAD79-0BFF-AB7E-2B78-265315A69CF8}"/>
              </a:ext>
            </a:extLst>
          </p:cNvPr>
          <p:cNvSpPr txBox="1"/>
          <p:nvPr/>
        </p:nvSpPr>
        <p:spPr>
          <a:xfrm>
            <a:off x="965200" y="22606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DAILY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0E590-96E6-981E-29A5-3F069FDB73FE}"/>
              </a:ext>
            </a:extLst>
          </p:cNvPr>
          <p:cNvSpPr txBox="1"/>
          <p:nvPr/>
        </p:nvSpPr>
        <p:spPr>
          <a:xfrm>
            <a:off x="965200" y="27686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Profile + targets + restrictions + progress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Exactly four meal types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Recipes, quantities, nutrition, coach note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Saved as recipes and daily plan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812E9-CBE0-DECD-B47F-AEEA2BB1ADA8}"/>
              </a:ext>
            </a:extLst>
          </p:cNvPr>
          <p:cNvSpPr txBox="1"/>
          <p:nvPr/>
        </p:nvSpPr>
        <p:spPr>
          <a:xfrm>
            <a:off x="6629400" y="22606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FREE-TEXT MEAL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7B2078-0F91-66E4-4B38-2A9B9433D323}"/>
              </a:ext>
            </a:extLst>
          </p:cNvPr>
          <p:cNvSpPr txBox="1"/>
          <p:nvPr/>
        </p:nvSpPr>
        <p:spPr>
          <a:xfrm>
            <a:off x="6629400" y="27686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User describes what was eaten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Searches branded products when identifiable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Returns calories, macros, micronutrients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Uses a fallback estimate if Gemini fails</a:t>
            </a:r>
          </a:p>
        </p:txBody>
      </p:sp>
    </p:spTree>
    <p:extLst>
      <p:ext uri="{BB962C8B-B14F-4D97-AF65-F5344CB8AC3E}">
        <p14:creationId xmlns:p14="http://schemas.microsoft.com/office/powerpoint/2010/main" val="2765625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D512A3-6B4A-17EB-CF3E-257852EBAB22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5890F-C8AC-9331-D04E-E90C9A41E6BC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Issues we encountered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46930-0D6E-C93C-06AC-83E8F730206A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The hardest work was handling changing providers, schemas, state, and quotas.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00183-5F47-0329-8A2F-513EE07DEED4}"/>
              </a:ext>
            </a:extLst>
          </p:cNvPr>
          <p:cNvSpPr txBox="1"/>
          <p:nvPr/>
        </p:nvSpPr>
        <p:spPr>
          <a:xfrm>
            <a:off x="965200" y="22606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8A18A-D32D-D460-F656-77F6C68B8661}"/>
              </a:ext>
            </a:extLst>
          </p:cNvPr>
          <p:cNvSpPr txBox="1"/>
          <p:nvPr/>
        </p:nvSpPr>
        <p:spPr>
          <a:xfrm>
            <a:off x="965200" y="27686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OpenAI to Ollama to Gemini migration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Missing environment variables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Model unavailable to new users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Unsupported JSON Schema fields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CA7104-13D0-9608-6173-54FCC83DF06A}"/>
              </a:ext>
            </a:extLst>
          </p:cNvPr>
          <p:cNvSpPr txBox="1"/>
          <p:nvPr/>
        </p:nvSpPr>
        <p:spPr>
          <a:xfrm>
            <a:off x="6629400" y="22606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APPLICATION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8B00A-BCF7-C9DC-AE3F-A77E40AF3A10}"/>
              </a:ext>
            </a:extLst>
          </p:cNvPr>
          <p:cNvSpPr txBox="1"/>
          <p:nvPr/>
        </p:nvSpPr>
        <p:spPr>
          <a:xfrm>
            <a:off x="6629400" y="27686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Old coach note after profile update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Remove button used the wrong ID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Summary needed multiple time ranges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Gemini Search returned HTTP 429</a:t>
            </a:r>
          </a:p>
        </p:txBody>
      </p:sp>
    </p:spTree>
    <p:extLst>
      <p:ext uri="{BB962C8B-B14F-4D97-AF65-F5344CB8AC3E}">
        <p14:creationId xmlns:p14="http://schemas.microsoft.com/office/powerpoint/2010/main" val="3745760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67477A-43CB-06BD-82E1-61CACF943C53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RESILIENCE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957D7-A01D-12C3-565F-1D38178EEA58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How we fixed them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0A77D-9C3E-C75F-615C-02960E0DD704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Error messages became concrete engineering changes.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862DF2-097E-6D7E-190E-AEFCA330465F}"/>
              </a:ext>
            </a:extLst>
          </p:cNvPr>
          <p:cNvSpPr txBox="1"/>
          <p:nvPr/>
        </p:nvSpPr>
        <p:spPr>
          <a:xfrm>
            <a:off x="9652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D7ECA-52B2-5922-DF48-F4F26C51CC93}"/>
              </a:ext>
            </a:extLst>
          </p:cNvPr>
          <p:cNvSpPr txBox="1"/>
          <p:nvPr/>
        </p:nvSpPr>
        <p:spPr>
          <a:xfrm>
            <a:off x="965200" y="2705100"/>
            <a:ext cx="28702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Gemini REST endpoint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GEMINI_MODEL setting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Automatic env loading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Clear error messages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4761B-63AD-C212-F312-18148D4163B7}"/>
              </a:ext>
            </a:extLst>
          </p:cNvPr>
          <p:cNvSpPr txBox="1"/>
          <p:nvPr/>
        </p:nvSpPr>
        <p:spPr>
          <a:xfrm>
            <a:off x="46609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DATA AND STATE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480D9-3527-58A9-D995-D58D364972FB}"/>
              </a:ext>
            </a:extLst>
          </p:cNvPr>
          <p:cNvSpPr txBox="1"/>
          <p:nvPr/>
        </p:nvSpPr>
        <p:spPr>
          <a:xfrm>
            <a:off x="4660900" y="2705100"/>
            <a:ext cx="28702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Clear plans and AI metadata on profile save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Use log_id for deletion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Keep profile and history local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Daily weekly monthly period logic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B7430-4A17-8CA1-9DE5-C4CED28AD58E}"/>
              </a:ext>
            </a:extLst>
          </p:cNvPr>
          <p:cNvSpPr txBox="1"/>
          <p:nvPr/>
        </p:nvSpPr>
        <p:spPr>
          <a:xfrm>
            <a:off x="83566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FAIL-SAFE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A3158-E4B6-758D-56C7-50ACA8D6958D}"/>
              </a:ext>
            </a:extLst>
          </p:cNvPr>
          <p:cNvSpPr txBox="1"/>
          <p:nvPr/>
        </p:nvSpPr>
        <p:spPr>
          <a:xfrm>
            <a:off x="8356600" y="2705100"/>
            <a:ext cx="28702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Structured JSON output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Compatible Gemini schema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Google Search for products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Complete fallback values on 429 or invalid output</a:t>
            </a:r>
          </a:p>
        </p:txBody>
      </p:sp>
    </p:spTree>
    <p:extLst>
      <p:ext uri="{BB962C8B-B14F-4D97-AF65-F5344CB8AC3E}">
        <p14:creationId xmlns:p14="http://schemas.microsoft.com/office/powerpoint/2010/main" val="492438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59824-33C9-C693-0357-20B15F2BA467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TRUST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0DBCB-B25E-C2E8-59A9-5C5E565EFF4D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Privacy and data handling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923AE-48E0-CC2E-01D9-D065B7027999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Local-first by default, with explicit boundaries around AI requests.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59218-D196-42A8-8D55-909788DC8099}"/>
              </a:ext>
            </a:extLst>
          </p:cNvPr>
          <p:cNvSpPr txBox="1"/>
          <p:nvPr/>
        </p:nvSpPr>
        <p:spPr>
          <a:xfrm>
            <a:off x="965200" y="23241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STAYS LOCAL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086B0-B5C9-3EB4-528D-A19A70BCEE7F}"/>
              </a:ext>
            </a:extLst>
          </p:cNvPr>
          <p:cNvSpPr txBox="1"/>
          <p:nvPr/>
        </p:nvSpPr>
        <p:spPr>
          <a:xfrm>
            <a:off x="965200" y="2832100"/>
            <a:ext cx="45847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Profile and preferences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Logged meals and actual food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Generated plans and coach notes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Weight history and SQLite 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922467-EE44-AACD-1163-DE6C6C5B1922}"/>
              </a:ext>
            </a:extLst>
          </p:cNvPr>
          <p:cNvSpPr txBox="1"/>
          <p:nvPr/>
        </p:nvSpPr>
        <p:spPr>
          <a:xfrm>
            <a:off x="6629400" y="2324100"/>
            <a:ext cx="45847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LEAVES THE DEVICE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ADE51-AB06-1C75-3906-BCE3FD225631}"/>
              </a:ext>
            </a:extLst>
          </p:cNvPr>
          <p:cNvSpPr txBox="1"/>
          <p:nvPr/>
        </p:nvSpPr>
        <p:spPr>
          <a:xfrm>
            <a:off x="6629400" y="2832100"/>
            <a:ext cx="45847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Only data needed for a plan or estimate is sent to Gemini.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API key comes from env or process environment.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Secrets and local database should stay out of Git.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Next hardening step: confirm repository history is clean.</a:t>
            </a:r>
          </a:p>
        </p:txBody>
      </p:sp>
    </p:spTree>
    <p:extLst>
      <p:ext uri="{BB962C8B-B14F-4D97-AF65-F5344CB8AC3E}">
        <p14:creationId xmlns:p14="http://schemas.microsoft.com/office/powerpoint/2010/main" val="363526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64C5D-A32D-E6DF-95EB-3FBF136BB091}"/>
              </a:ext>
            </a:extLst>
          </p:cNvPr>
          <p:cNvSpPr txBox="1"/>
          <p:nvPr/>
        </p:nvSpPr>
        <p:spPr>
          <a:xfrm>
            <a:off x="685800" y="431800"/>
            <a:ext cx="381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2B976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9B1A5-6F8E-344C-9D19-160081340DEC}"/>
              </a:ext>
            </a:extLst>
          </p:cNvPr>
          <p:cNvSpPr txBox="1"/>
          <p:nvPr/>
        </p:nvSpPr>
        <p:spPr>
          <a:xfrm>
            <a:off x="685800" y="787400"/>
            <a:ext cx="10668000" cy="5386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900" b="1">
                <a:solidFill>
                  <a:srgbClr val="FFFFFF"/>
                </a:solidFill>
                <a:latin typeface="Aptos" panose="020B0004020202020204" pitchFamily="34" charset="0"/>
              </a:rPr>
              <a:t>Next steps and ideas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4F02D-0B72-4EA4-5303-1841F514E35B}"/>
              </a:ext>
            </a:extLst>
          </p:cNvPr>
          <p:cNvSpPr txBox="1"/>
          <p:nvPr/>
        </p:nvSpPr>
        <p:spPr>
          <a:xfrm>
            <a:off x="711200" y="1409700"/>
            <a:ext cx="10668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D0BCA9"/>
                </a:solidFill>
                <a:latin typeface="Aptos" panose="020B0004020202020204" pitchFamily="34" charset="0"/>
              </a:rPr>
              <a:t>What would make the MVP more accurate, explainable, and production-ready?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47DB24-0DF5-8570-8486-9FE9894D299C}"/>
              </a:ext>
            </a:extLst>
          </p:cNvPr>
          <p:cNvSpPr txBox="1"/>
          <p:nvPr/>
        </p:nvSpPr>
        <p:spPr>
          <a:xfrm>
            <a:off x="9652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ACCURACY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72831-8ADD-2674-ADC9-0AB233EDBD1B}"/>
              </a:ext>
            </a:extLst>
          </p:cNvPr>
          <p:cNvSpPr txBox="1"/>
          <p:nvPr/>
        </p:nvSpPr>
        <p:spPr>
          <a:xfrm>
            <a:off x="965200" y="2705100"/>
            <a:ext cx="2870200" cy="16004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Use a nutrition database as source of truth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Validate product variant and serving size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Save source URL and label date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Separate label-verified from estimated values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D9C3C-2985-C808-F8E8-4CC55DDEDA76}"/>
              </a:ext>
            </a:extLst>
          </p:cNvPr>
          <p:cNvSpPr txBox="1"/>
          <p:nvPr/>
        </p:nvSpPr>
        <p:spPr>
          <a:xfrm>
            <a:off x="46609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9EC5AA-E422-AD09-AD50-E293340ADEE6}"/>
              </a:ext>
            </a:extLst>
          </p:cNvPr>
          <p:cNvSpPr txBox="1"/>
          <p:nvPr/>
        </p:nvSpPr>
        <p:spPr>
          <a:xfrm>
            <a:off x="4660900" y="2705100"/>
            <a:ext cx="2870200" cy="1384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Charts for adherence and trends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CSV/PDF export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Meal preferences and substitutions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Better onboarding and explanations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77AB7-9F62-3899-B8E2-87DDF4826D16}"/>
              </a:ext>
            </a:extLst>
          </p:cNvPr>
          <p:cNvSpPr txBox="1"/>
          <p:nvPr/>
        </p:nvSpPr>
        <p:spPr>
          <a:xfrm>
            <a:off x="8356600" y="2197100"/>
            <a:ext cx="28702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PRODUCTION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EB67D6-B4E4-4F24-CF51-023A9D7BF301}"/>
              </a:ext>
            </a:extLst>
          </p:cNvPr>
          <p:cNvSpPr txBox="1"/>
          <p:nvPr/>
        </p:nvSpPr>
        <p:spPr>
          <a:xfrm>
            <a:off x="8356600" y="2705100"/>
            <a:ext cx="2870200" cy="1169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Authentication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Encrypted sync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Automated tests</a:t>
            </a:r>
          </a:p>
          <a:p>
            <a:r>
              <a:rPr lang="en-US" sz="1400">
                <a:solidFill>
                  <a:srgbClr val="EFE3D5"/>
                </a:solidFill>
                <a:latin typeface="Aptos" panose="020B0004020202020204" pitchFamily="34" charset="0"/>
              </a:rPr>
              <a:t>•  Monitoring, rate-limit handling, and audit logs</a:t>
            </a:r>
          </a:p>
        </p:txBody>
      </p:sp>
    </p:spTree>
    <p:extLst>
      <p:ext uri="{BB962C8B-B14F-4D97-AF65-F5344CB8AC3E}">
        <p14:creationId xmlns:p14="http://schemas.microsoft.com/office/powerpoint/2010/main" val="2129140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Custom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Dona Ramona Arama</dc:creator>
  <cp:lastModifiedBy>Dona Ramona Arama</cp:lastModifiedBy>
  <cp:revision>1</cp:revision>
  <dcterms:created xsi:type="dcterms:W3CDTF">2026-08-13T08:38:41Z</dcterms:created>
  <dcterms:modified xsi:type="dcterms:W3CDTF">2026-08-13T08:38:42Z</dcterms:modified>
</cp:coreProperties>
</file>